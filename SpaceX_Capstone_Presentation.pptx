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Launches per Site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rgbClr val="00A8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53-074B-B7EE-B4C9C8BE7F6C}"/>
              </c:ext>
            </c:extLst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53-074B-B7EE-B4C9C8BE7F6C}"/>
              </c:ext>
            </c:extLst>
          </c:dPt>
          <c:dPt>
            <c:idx val="2"/>
            <c:invertIfNegative val="0"/>
            <c:bubble3D val="0"/>
            <c:spPr>
              <a:solidFill>
                <a:srgbClr val="0B1D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53-074B-B7EE-B4C9C8BE7F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CCAFS SLC 40</c:v>
                </c:pt>
                <c:pt idx="1">
                  <c:v>KSC LC 39A</c:v>
                </c:pt>
                <c:pt idx="2">
                  <c:v>VAFB SLC 4E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22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53-074B-B7EE-B4C9C8BE7F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Orbit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Orbit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25-3049-801F-8B70FDB1D336}"/>
              </c:ext>
            </c:extLst>
          </c:dPt>
          <c:dPt>
            <c:idx val="1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25-3049-801F-8B70FDB1D336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25-3049-801F-8B70FDB1D336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25-3049-801F-8B70FDB1D336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25-3049-801F-8B70FDB1D336}"/>
              </c:ext>
            </c:extLst>
          </c:dPt>
          <c:dPt>
            <c:idx val="5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025-3049-801F-8B70FDB1D336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025-3049-801F-8B70FDB1D33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25-3049-801F-8B70FDB1D33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25-3049-801F-8B70FDB1D33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25-3049-801F-8B70FDB1D33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025-3049-801F-8B70FDB1D33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025-3049-801F-8B70FDB1D33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025-3049-801F-8B70FDB1D336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025-3049-801F-8B70FDB1D33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BD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GTO</c:v>
                </c:pt>
                <c:pt idx="1">
                  <c:v>ISS</c:v>
                </c:pt>
                <c:pt idx="2">
                  <c:v>VLEO</c:v>
                </c:pt>
                <c:pt idx="3">
                  <c:v>PO</c:v>
                </c:pt>
                <c:pt idx="4">
                  <c:v>LEO</c:v>
                </c:pt>
                <c:pt idx="5">
                  <c:v>SSO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</c:v>
                </c:pt>
                <c:pt idx="1">
                  <c:v>21</c:v>
                </c:pt>
                <c:pt idx="2">
                  <c:v>14</c:v>
                </c:pt>
                <c:pt idx="3">
                  <c:v>9</c:v>
                </c:pt>
                <c:pt idx="4">
                  <c:v>7</c:v>
                </c:pt>
                <c:pt idx="5">
                  <c:v>5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025-3049-801F-8B70FDB1D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BD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Success vs. Failure by Orbit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(Class=1)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LEO</c:v>
                </c:pt>
                <c:pt idx="1">
                  <c:v>ISS</c:v>
                </c:pt>
                <c:pt idx="2">
                  <c:v>GTO</c:v>
                </c:pt>
                <c:pt idx="3">
                  <c:v>SSO</c:v>
                </c:pt>
                <c:pt idx="4">
                  <c:v>VLEO</c:v>
                </c:pt>
                <c:pt idx="5">
                  <c:v>PO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18</c:v>
                </c:pt>
                <c:pt idx="2">
                  <c:v>16</c:v>
                </c:pt>
                <c:pt idx="3">
                  <c:v>4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AB-C84B-9FD3-8A8C1BBDA9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(Class=0)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LEO</c:v>
                </c:pt>
                <c:pt idx="1">
                  <c:v>ISS</c:v>
                </c:pt>
                <c:pt idx="2">
                  <c:v>GTO</c:v>
                </c:pt>
                <c:pt idx="3">
                  <c:v>SSO</c:v>
                </c:pt>
                <c:pt idx="4">
                  <c:v>VLEO</c:v>
                </c:pt>
                <c:pt idx="5">
                  <c:v>PO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11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AB-C84B-9FD3-8A8C1BBDA9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BD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Success Rate Over Years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ln w="38100" cap="flat">
              <a:solidFill>
                <a:srgbClr val="00A8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E8"/>
              </a:solidFill>
              <a:ln w="9525" cap="flat">
                <a:solidFill>
                  <a:srgbClr val="00A8E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17</c:v>
                </c:pt>
                <c:pt idx="2">
                  <c:v>43</c:v>
                </c:pt>
                <c:pt idx="3">
                  <c:v>50</c:v>
                </c:pt>
                <c:pt idx="4">
                  <c:v>61</c:v>
                </c:pt>
                <c:pt idx="5">
                  <c:v>76</c:v>
                </c:pt>
                <c:pt idx="6">
                  <c:v>77</c:v>
                </c:pt>
                <c:pt idx="7">
                  <c:v>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D69-7749-AE62-8D349457BA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Launches per Site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rgbClr val="00A8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E6-C547-8C6C-8FB47AD48DF7}"/>
              </c:ext>
            </c:extLst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E6-C547-8C6C-8FB47AD48DF7}"/>
              </c:ext>
            </c:extLst>
          </c:dPt>
          <c:dPt>
            <c:idx val="2"/>
            <c:invertIfNegative val="0"/>
            <c:bubble3D val="0"/>
            <c:spPr>
              <a:solidFill>
                <a:srgbClr val="0B1D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E6-C547-8C6C-8FB47AD48D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CCAFS SLC 40</c:v>
                </c:pt>
                <c:pt idx="1">
                  <c:v>KSC LC 39A</c:v>
                </c:pt>
                <c:pt idx="2">
                  <c:v>VAFB SLC 4E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22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0E6-C547-8C6C-8FB47AD48D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Successful Landings by Pad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Successes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11-1442-9C39-3A606A36C2A0}"/>
              </c:ext>
            </c:extLst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11-1442-9C39-3A606A36C2A0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11-1442-9C39-3A606A36C2A0}"/>
              </c:ext>
            </c:extLst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11-1442-9C39-3A606A36C2A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11-1442-9C39-3A606A36C2A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11-1442-9C39-3A606A36C2A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511-1442-9C39-3A606A36C2A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511-1442-9C39-3A606A36C2A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BD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OCISLY (Drone)</c:v>
                </c:pt>
                <c:pt idx="1">
                  <c:v>LZ-1 (Ground)</c:v>
                </c:pt>
                <c:pt idx="2">
                  <c:v>LZ-2 (Ground)</c:v>
                </c:pt>
                <c:pt idx="3">
                  <c:v>JRTI (Drone)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12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11-1442-9C39-3A606A36C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BD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All Sites – Success Rate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 Sites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30-4D45-9C85-1A98BCC7B58F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30-4D45-9C85-1A98BCC7B58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30-4D45-9C85-1A98BCC7B58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30-4D45-9C85-1A98BCC7B58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BD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Failure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30-4D45-9C85-1A98BCC7B5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BD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CCAFS SLC 40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CCAFS SLC 40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00-D04A-883E-B4F71E3344A4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00-D04A-883E-B4F71E3344A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00-D04A-883E-B4F71E3344A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BD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00-D04A-883E-B4F71E3344A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BD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Failure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00-D04A-883E-B4F71E3344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BD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00A8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SVM (Linear)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82.1</c:v>
                </c:pt>
                <c:pt idx="1">
                  <c:v>84.8</c:v>
                </c:pt>
                <c:pt idx="2">
                  <c:v>83.1</c:v>
                </c:pt>
                <c:pt idx="3">
                  <c:v>83.1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98-3249-98CC-CBB2C81949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B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SVM (Linear)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83.3</c:v>
                </c:pt>
                <c:pt idx="3">
                  <c:v>83.3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98-3249-98CC-CBB2C81949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B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BD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3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137160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3152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466344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448056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74904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4846320"/>
            <a:ext cx="54864" cy="54864"/>
          </a:xfrm>
          <a:prstGeom prst="ellipse">
            <a:avLst/>
          </a:prstGeom>
          <a:solidFill>
            <a:srgbClr val="00A8E8">
              <a:alpha val="60000"/>
            </a:srgbClr>
          </a:solidFill>
          <a:ln w="12700">
            <a:solidFill>
              <a:srgbClr val="00A8E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00A8E8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657600" cy="457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Capstone Project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Ahnaf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Harappa|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051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E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Falcon 9 first-stage landing success to estimate launch cost savings vs. competitors ($62M vs $165M+).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E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 via SpaceX API &amp; web scraping. Performed EDA, SQL analysis, interactive mapping, and ML modeling.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A8E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accuracy: 83.33%. Decision Tree &amp; SVM with linear kernel performed best. 90 Falcon 9 launches analyzed.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revolutionized space launch economics through booster reusability.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launches cost ~$62M vs. $165M+ for competitors.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 savings: successful first-stage booster recovery.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predict landing success, we can estimate launch costs.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competing companies to make informed bids.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931920" cy="3840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whether the Falcon 9 first stage will land successfully?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publicly available launch data from SpaceX's API and Wikipedia, we build a binary classification model to answer this question.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= Successful landing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= Unsuccessful landing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– SpaceX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SpaceX v4 API: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api.spacexdata.com/v4/launches/past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static JSON for consistency.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307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Normalize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JSON to DataFrame using pd.json_normalize(). First row: static_fire_date_utc = 2006.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4787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additional API calls for rocket, launchpad, payload &amp; core details using helper functions.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Clean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Falcon 1 launches. Kept 90 Falcon 9 records. Filtered dates up to Nov 13, 2020.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90 Falcon 9 launches | 26 missing LandingPad values | 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– Web Scraping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Wikipedia – List of Falcon 9 and Falcon Heavy Launches (snapshot: June 9, 2021)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17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5179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requests.get() on the Wikipedia static URL to retrieve the HTML page response.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Parsing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2037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BeautifulSoup object from HTML. Verified with soup.title → 'List of Falcon 9 and Falcon Heavy launches - Wikipedia'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880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8895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all HTML tables with find_all('table'). Target table: html_tables[2] — the launch records table.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575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Parsing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575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column headers using extract_column_from_header(). Parsed rows for Flight No., Date, Booster, Payload, Orbit, Customer, Launch Outcome.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251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Creation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4261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parsed data into a Pandas DataFrame for downstream analysis and export.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4864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24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Falcon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dataset to Falcon 9 only → 90 launches remaining.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19656"/>
            <a:ext cx="54864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939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LandingPad: 26 NaN values retained (not all flights attempt pad landing). PayloadMass: filled with column mean.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54864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9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Class Label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Outcome column to binary: 1 = successful landing, 0 = failed landing.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54864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Bad Outcomes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failures: False Ocean, False RTLS, False ASDS, None ASDS, None None.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54864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14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261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df['Class'].mean() → 67% overall success rate across all 90 Falcon 9 launches.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3931920" cy="3840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Stats After Wrangling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Launches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2029968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75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2075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2414016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459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2459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2798064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8437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 4E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43800" y="2843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3182112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227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Orbits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43800" y="3227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83480" y="3566160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ASDS (Drone)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380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83480" y="3950208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995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LandingPad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43800" y="39959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83480" y="4334256"/>
            <a:ext cx="356616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3799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43800" y="43799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0584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 is the dominant launch site with 61% of all launches.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(Geostationary Transfer Orbit) is the most common mission orbit at 30%.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improved significantly over time as reusability matured.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and certain orbits correlate with lower landing success.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Counts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LaunchSite, COUNT(*) FROM SPACEXTBL GROUP BY LaunchSite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1152144"/>
            <a:ext cx="36576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CCAFS SLC 40: 55 | KSC LC 39A: 22 | VAFB SLC 4E: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Payload Mass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122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AVG(PayloadMass) FROM SPACEXTBL WHERE Booster='Falcon 9'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911096"/>
            <a:ext cx="36576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947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Average Payload Mass: ~4,630 kg across all launches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Per Year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71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SUBSTR(Date,1,4) yr, COUNT(*) FROM SPACEXTBL GROUP BY yr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670048"/>
            <a:ext cx="36576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2013: 3 | 2014: 6 | 2015: 7 | 2016: 8 | 2017: 18 | 2018: 21 | 2019: 13 | 2020: 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19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Payload (w/ Landing)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6301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MAX(PayloadMass) FROM SPACEXTBL WHERE LandingPad IS NOT NULL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3429000"/>
            <a:ext cx="36576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465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Maximum payload with landing attempt: 15,600 kg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178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by Landing Pad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LandingPad, COUNT(*) c FROM SPACEXTBL WHERE Class=1 GROUP BY LandingPad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4187952"/>
            <a:ext cx="36576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OCISLY: 27 | LZ-1: 12 | LZ-2: 1 | JRTI: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Folium 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of all Falcon 9 launch sites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markers for each launch site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markers: green = success, red = failure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labels showing site name &amp; coordinates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lines: distance to coastline, city, highway, railway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 closest to urban infrastructure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Plotly Dash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site dropdown filter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success vs. failure count per launch site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Payload Mass vs. Launch Outcome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Slider: filter by payload range (0–10,000 kg)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 highest success rate for light payloads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sites: heavier payload → mixed outcomes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120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1005840"/>
          <a:ext cx="32004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orbit has the highest absolute number of successes (18 out of 21).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has the most failures (11) — heavier payloads, more demanding trajectories.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improved from near 0% in 2013 to 86% by 2020.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 confirms SpaceX's rapid technological maturation.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–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3931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005840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Findings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8412480" cy="16916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Payload Mass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~4,630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(with landing attempt)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15,600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with most launches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(21 launches)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successful pad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OCISLY – 27 successes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launch site success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KSC LC 39A – 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– Launch Site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3474720"/>
          </a:xfrm>
          <a:prstGeom prst="rect">
            <a:avLst/>
          </a:prstGeom>
          <a:solidFill>
            <a:srgbClr val="D1FAE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🗺️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Interactive 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(Rendered in Jupyter Notebook)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 Mapped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600200"/>
            <a:ext cx="228600" cy="2286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554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1801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28.562°N, 80.577°W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286000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487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28.573°N, 80.649°W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97180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 4E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172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34.632°N, 120.611°W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Findings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977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located near coastlines (water landing fallback).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 nearest to urban centers.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 4E on opposite coast for polar orbits.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lines reveal strategic site placement.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– Interactive Dashboard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291840" y="100584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100584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3093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Scatter Plot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09360" y="1463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Range slider (0–10,000 kg)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payloads → higher success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5,000–10,000 kg → mixed results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 39A handles heaviest payloads successfully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filter by launch site (All Sites or specific site).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updates dynamically to show success/failure ratio for selected site.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Payload Mass vs. Class (0/1), colored by Booster Version.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range slider filters scatter plot in real-time.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– ML Models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2926080" cy="2743200"/>
          </a:xfrm>
          <a:prstGeom prst="rect">
            <a:avLst/>
          </a:prstGeom>
          <a:solidFill>
            <a:srgbClr val="0B1D3A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097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0664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Falcon 9 launches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→ 18 samples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2203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GridSearchCV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551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SVM Kernel: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2551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2898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DT Accuracy: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Test Acc.: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Insights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5760" y="41605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(landed, predicted landed): 12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(not landed, predicted landed): 3   ← main error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(not landed, predicted not landed): 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(landed, predicted not landed): 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github.com/Ahnafmeow10/F1-capstone-Project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74320" cy="2743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4358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first-stage landing can be predicted with 83.33% accuracy using ML models.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74320" cy="2743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6537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(LR, SVM, DT, KNN) achieved identical test accuracy — dataset size (18 samples) is the limiting factor.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274320" cy="2743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87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with linear kernel achieved the best validation accuracy (84.8%); Decision Tree was most interpretable.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274320" cy="2743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grew from ~0% (2013) to 86% (2020), demonstrating SpaceX's rapid engineering progress.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307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predictors: Launch site, payload mass, orbit type, and number of prior flights with that booster.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274320" cy="2743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5254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larger dataset, real-time API integration, and ensemble methods could push accuracy above 90%.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github.com/Ahnafmeow10/F1-capstone-Project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Microsoft Macintosh PowerPoint</Application>
  <PresentationFormat>On-screen Show (16:9)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Ahnaf</dc:creator>
  <cp:lastModifiedBy>Ahnaf Harappa</cp:lastModifiedBy>
  <cp:revision>2</cp:revision>
  <dcterms:created xsi:type="dcterms:W3CDTF">2026-05-01T15:29:40Z</dcterms:created>
  <dcterms:modified xsi:type="dcterms:W3CDTF">2026-05-01T15:31:27Z</dcterms:modified>
</cp:coreProperties>
</file>